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7680" y="1188720"/>
            <a:ext cx="3566160" cy="36576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GEOAI OUTDOOR INTELLIGENCE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GeoAI Outdoor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Grounded Spatiotemporal Recommendations for Outdoor Activities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520440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An intelligent agent reasoning over live Open-Meteo weather, WAQI air quality, and OpenStreetMap geospatial context, synthesized by a ≤3B open-weights Small Language Model (Qwen2.5-3B-Instruct) without hallucinations.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4480560"/>
            <a:ext cx="3017520" cy="128016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4590288"/>
            <a:ext cx="27432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⚡ Open SLM Core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Qwen2.5-3B-Instruct (4-bit NF4)</a:t>
            </a:r>
            <a:br/>
            <a:r>
              <a:t>Strictly ≤3B parameters on HF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480560"/>
            <a:ext cx="3017520" cy="128016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4590288"/>
            <a:ext cx="27432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🛰️ 100% Live Open Data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Overpass/Nominatim + Open-Meteo</a:t>
            </a:r>
            <a:br/>
            <a:r>
              <a:t>WAQI AQI + OSRM travel impedance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480560"/>
            <a:ext cx="3017520" cy="128016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4590288"/>
            <a:ext cx="27432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🧭 Spatiotemporal Physics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Dynamic highway wind plumes, rush-hour</a:t>
            </a:r>
            <a:br/>
            <a:r>
              <a:t>traffic &amp; personalized health limits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The Challenge: Why Weather Forecasts Are Not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The Limitations of Current Apps</a:t>
            </a:r>
          </a:p>
          <a:p>
            <a:pPr>
              <a:spcBef>
                <a:spcPts val="1000"/>
              </a:spcBef>
              <a:defRPr sz="1300" b="1">
                <a:solidFill>
                  <a:srgbClr val="DC2626"/>
                </a:solidFill>
              </a:defRPr>
            </a:pPr>
            <a:r>
              <a:t>❌ Static &amp; Passive Information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Weather apps report city-wide temperature (e.g. 'Pune 31°C'). They don't tell a runner where to go, when it's safe, or what gear to bring.</a:t>
            </a:r>
          </a:p>
          <a:p>
            <a:pPr>
              <a:spcBef>
                <a:spcPts val="1000"/>
              </a:spcBef>
              <a:defRPr sz="1300" b="1">
                <a:solidFill>
                  <a:srgbClr val="DC2626"/>
                </a:solidFill>
              </a:defRPr>
            </a:pPr>
            <a:r>
              <a:t>❌ Ignores Microclimate &amp; Wind Plumes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A ground 200m downwind of an expressway at 8:00 AM suffers from dense toxic emissions. By 5:00 PM, wind shifts away, making it pleasant.</a:t>
            </a:r>
          </a:p>
          <a:p>
            <a:pPr>
              <a:spcBef>
                <a:spcPts val="1000"/>
              </a:spcBef>
              <a:defRPr sz="1300" b="1">
                <a:solidFill>
                  <a:srgbClr val="DC2626"/>
                </a:solidFill>
              </a:defRPr>
            </a:pPr>
            <a:r>
              <a:t>❌ Ignores Rush-Hour Commute Penalty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A venue 20 km away with a good pitch is NOT worth it if 8:00 AM rush hour turns a 25-min drive into an exhausting 75-min traffic jam.</a:t>
            </a:r>
          </a:p>
          <a:p>
            <a:pPr>
              <a:spcBef>
                <a:spcPts val="1000"/>
              </a:spcBef>
              <a:defRPr sz="1300" b="1">
                <a:solidFill>
                  <a:srgbClr val="DC2626"/>
                </a:solidFill>
              </a:defRPr>
            </a:pPr>
            <a:r>
              <a:t>❌ One-Size-Fits-All Danger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Moderate AQI (85) or 32°C heat is manageable for a college athlete, but hazardous for a person with asthma, an elderly walker, or a child.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The GeoAI Formulation: f(Place, Time, Person)</a:t>
            </a:r>
          </a:p>
          <a:p>
            <a:pPr>
              <a:spcBef>
                <a:spcPts val="1000"/>
              </a:spcBef>
              <a:defRPr sz="1300" b="1">
                <a:solidFill>
                  <a:srgbClr val="059669"/>
                </a:solidFill>
              </a:defRPr>
            </a:pPr>
            <a:r>
              <a:t>✓ Joint Spatiotemporal Reasoning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Evaluates dozens of candidate venue coordinates across multiple hours simultaneously to find the global optimum.</a:t>
            </a:r>
          </a:p>
          <a:p>
            <a:pPr>
              <a:spcBef>
                <a:spcPts val="1000"/>
              </a:spcBef>
              <a:defRPr sz="1300" b="1">
                <a:solidFill>
                  <a:srgbClr val="059669"/>
                </a:solidFill>
              </a:defRPr>
            </a:pPr>
            <a:r>
              <a:t>✓ Dynamic Vector Geometry &amp; Plume Modeling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Calculates spherical bearing angles from venue to highway corridors to detect downwind vehicular pollution in real time.</a:t>
            </a:r>
          </a:p>
          <a:p>
            <a:pPr>
              <a:spcBef>
                <a:spcPts val="1000"/>
              </a:spcBef>
              <a:defRPr sz="1300" b="1">
                <a:solidFill>
                  <a:srgbClr val="059669"/>
                </a:solidFill>
              </a:defRPr>
            </a:pPr>
            <a:r>
              <a:t>✓ Health-Aware Constraint Filtering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Strictly tightens allowable air quality and heat index envelopes for asthma, pregnancy, seniors, and young children.</a:t>
            </a:r>
          </a:p>
          <a:p>
            <a:pPr>
              <a:spcBef>
                <a:spcPts val="1000"/>
              </a:spcBef>
              <a:defRPr sz="1300" b="1">
                <a:solidFill>
                  <a:srgbClr val="059669"/>
                </a:solidFill>
              </a:defRPr>
            </a:pPr>
            <a:r>
              <a:t>✓ Zero-Hallucination Open Weights SLM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Uses Qwen2.5-3B-Instruct strictly for synthesis over live-fetched JSON records — never relying on model memory for 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ENGINEERING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System Architecture: End-to-End Query-Time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72768"/>
            <a:ext cx="174650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1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NLP Parser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Extracts activity, target area, radius (km), time window, health profile &amp; 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19456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46304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572768"/>
            <a:ext cx="174650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2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Nominatim Geocoding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Resolves query location to precise lat/lon coordinates with bounding box.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19456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46304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1572768"/>
            <a:ext cx="174650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3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Async Live Harvest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Concurrent non-blocking fetch from 5 open APIs via httpx (latency ~3.2s).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19456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46304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8" y="1572768"/>
            <a:ext cx="174650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4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5-D Scoring Engine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Ranks (place × time) combos on weather, AQI, downwind plume &amp; travel.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19456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146304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1572768"/>
            <a:ext cx="174650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5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Qwen2.5-3B SLM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Generates grounded natural advice with precautions, gear tips &amp; avoid slots.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39"/>
            <a:ext cx="10728655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88620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Key Architectural Principles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• Strict Query-Time Live Fetching: </a:t>
            </a:r>
            <a:r>
              <a:rPr b="0">
                <a:solidFill>
                  <a:srgbClr val="0F172A"/>
                </a:solidFill>
              </a:rPr>
              <a:t>Zero static pre-baked CSVs or local databases. Every query executes fresh HTTP calls to open APIs to reflect real, immediate atmospheric conditions.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• Non-Blocking Parallel Execution: </a:t>
            </a:r>
            <a:r>
              <a:rPr b="0">
                <a:solidFill>
                  <a:srgbClr val="0F172A"/>
                </a:solidFill>
              </a:rPr>
              <a:t>Uses Python asyncio.gather across Open-Meteo, WAQI, OpenStreetMap and Sunrise-Sunset APIs, reducing latency from ~12s sequential to ~3s concurrent.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• Multi-Tier POI Fallback Mechanism: </a:t>
            </a:r>
            <a:r>
              <a:rPr b="0">
                <a:solidFill>
                  <a:srgbClr val="0F172A"/>
                </a:solidFill>
              </a:rPr>
              <a:t>Queries Overpass API QL for specialized sport polygons; automatically falls back to bounded OpenStreetMap Nominatim search if Overpass is throttled.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• Decoupled LLM Boundary: </a:t>
            </a:r>
            <a:r>
              <a:rPr b="0">
                <a:solidFill>
                  <a:srgbClr val="0F172A"/>
                </a:solidFill>
              </a:rPr>
              <a:t>The SLM receives deterministic pre-computed metrics and acts purely as an explanation engine. It cannot invent numbers, times, or geographical coordinates.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DATA SOURCES &amp; INGESTION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Data Engineering: Six Live Open API Integrations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224028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00200"/>
            <a:ext cx="308427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OpenStreetMap (Nominatim)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Geocoding &amp; Bounded Spatial Discovery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Free, 1-req/sec rate-compliant client</a:t>
            </a:r>
            <a:br/>
            <a:r>
              <a:t>• Resolves ambiguous place names into lat/lon</a:t>
            </a:r>
            <a:br/>
            <a:r>
              <a:t>• Bounded viewbox spatial search for outdoor POIs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13455" cy="224028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00200"/>
            <a:ext cx="308427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Open-Meteo Weather API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Hourly Micro-Meteorology Forecasts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No API key required; seamless open access</a:t>
            </a:r>
            <a:br/>
            <a:r>
              <a:t>• 12 parameters: Temp, Feels-like, Wind Speed,</a:t>
            </a:r>
            <a:br/>
            <a:r>
              <a:t>  Direction, Gusts, Rain Prob, UV, Weathercode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13455" cy="224028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600200"/>
            <a:ext cx="308427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WAQI &amp; OpenAQ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Real-Time Ground-Level Air Quality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WAQI geo-located sensor feed + OpenAQ fallback</a:t>
            </a:r>
            <a:br/>
            <a:r>
              <a:t>• Real-time AQI index, PM2.5, PM10, NO2</a:t>
            </a:r>
            <a:br/>
            <a:r>
              <a:t>• Crucial for respiratory &amp; asthma safety gating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413455" cy="22402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069080"/>
            <a:ext cx="308427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Sunrise-Sunset API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Solar Astronomy &amp; Daylight Constraints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ISO-8601 astronomical times converted to IST</a:t>
            </a:r>
            <a:br/>
            <a:r>
              <a:t>• Civil twilight bounds for evening visibility</a:t>
            </a:r>
            <a:br/>
            <a:r>
              <a:t>• Golden hour window computation for photography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931920"/>
            <a:ext cx="3413455" cy="22402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4069080"/>
            <a:ext cx="308427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OSRM Routing Engine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Road Network Travel &amp; Congestion Model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Open Source Routing Machine driving profile</a:t>
            </a:r>
            <a:br/>
            <a:r>
              <a:t>• Precise road network distance (km) &amp; drive time</a:t>
            </a:r>
            <a:br/>
            <a:r>
              <a:t>• Rush-hour traffic impedance multiplier (+40%)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931920"/>
            <a:ext cx="3413455" cy="224028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4069080"/>
            <a:ext cx="308427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Overpass API Infrastructure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Geospatial Pollution &amp; Amenity Polygons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Overpass QL extraction of expressways &amp; trunks</a:t>
            </a:r>
            <a:br/>
            <a:r>
              <a:t>• Industrial landuse zoning &amp; green cover parks</a:t>
            </a:r>
            <a:br/>
            <a:r>
              <a:t>• Water bodies for microclimate cooling bonus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CORE ALGORITHMIC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The Decision Engine: 5-Dimensional Composite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389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Mathematical Formulation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S_total = 0.35·S_w + 0.25·S_aqi + 0.15·S_geo + 0.15·S_day + 0.10·S_trav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🌤️ Weather Suitability (35%)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Non-linear penalty when temperature, wind speed, rain probability, or UV index deviate from activity-ideal envelopes.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🌬️ Air Quality Index (25%)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Thresholds scale linearly from Good (50) to Unhealthy (150+). Hard caps for sensitive health profiles.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🗺️ Geospatial Vector Context (15%)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Dynamic highway plume downwind analysis + industrial buffer penalties + green cover / water bonus.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🌅 Daylight Constraints (15%)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Severe penalty for darkness unless venue has artificial floodlights; +10 bonus for sunset photography.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🚗 Travel Impedance (10%)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Non-linear drive time decay: steep drop-off when travel exceeds 45 mins, aggravated during peak rush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463040"/>
            <a:ext cx="6065215" cy="4846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Downwind Highway Plume &amp; Rush-Hour Congestion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Directly solving the hackathon prompt's core challenge: A ground downwind of an expressway at 8:00 AM becomes pleasant by evening once the wind shifts.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1. Spherical Bearing Calculation: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Computes exact angle from venue (lat1, lon1) to pollution source (lat2, lon2):</a:t>
            </a:r>
            <a:br/>
            <a:r>
              <a:t>θ = atan2(sin(Δλ)·cos(φ2), cos(φ1)·sin(φ2) - sin(φ1)·cos(φ2)·cos(Δλ)) (0° to 360°)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2. Wind Plume Alignment: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Compares wind direction (direction wind blows FROM) against bearing. If |wind_dir - θ| ≤ 35°, the venue lies directly in the downwind exhaust plume.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3. Rush-Hour Traffic Sensitivity: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During morning rush (07:00–10:00) and evening rush (17:00–20:00), vehicular emissions spike. An expressway downwind trigger docks -18 pts + triggers heavy exhaust warning.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4. Wind Shift Recovery: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If wind shifts by evening (e.g. to crosswind or upwind), the penalty drops to 0 and the engine notes: '✓ Favorable wind carries emissions away from venue'.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ACTIVITY COVERAGE &amp; USER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Activity Profiles &amp; Health-Aware Personalization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11 Supported Outdoor Activities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🏃 Running / Jogging</a:t>
            </a:r>
            <a:r>
              <a:rPr b="0">
                <a:solidFill>
                  <a:srgbClr val="475569"/>
                </a:solidFill>
              </a:rPr>
              <a:t>  Ideal: 12–22°C | Wind &lt;40 km/h | Rain &lt;1mm | Max AQI: 150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🚶 Walking / Strolls</a:t>
            </a:r>
            <a:r>
              <a:rPr b="0">
                <a:solidFill>
                  <a:srgbClr val="475569"/>
                </a:solidFill>
              </a:rPr>
              <a:t>  Ideal: 16–26°C | Gentle wind &lt;30 km/h | Parks/Gardens | Max AQI: 100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🚴 Cycling (Commute/Leisure)</a:t>
            </a:r>
            <a:r>
              <a:rPr b="0">
                <a:solidFill>
                  <a:srgbClr val="475569"/>
                </a:solidFill>
              </a:rPr>
              <a:t>  Ideal: 15–28°C | Wind &lt;35 km/h | Dry tarmac | Max AQI: 150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🏏 Cricket (Matches/Nets)</a:t>
            </a:r>
            <a:r>
              <a:rPr b="0">
                <a:solidFill>
                  <a:srgbClr val="475569"/>
                </a:solidFill>
              </a:rPr>
              <a:t>  Ideal: 20–33°C | 0mm Rain tolerance | Good visibility | Max AQI: 150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🎾 Outdoor Tennis</a:t>
            </a:r>
            <a:r>
              <a:rPr b="0">
                <a:solidFill>
                  <a:srgbClr val="475569"/>
                </a:solidFill>
              </a:rPr>
              <a:t>  Ideal: 18–30°C | Wind &lt;25 km/h (drift sensitive) | Dry courts only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⚽ Outdoor Football</a:t>
            </a:r>
            <a:r>
              <a:rPr b="0">
                <a:solidFill>
                  <a:srgbClr val="475569"/>
                </a:solidFill>
              </a:rPr>
              <a:t>  Ideal: 15–28°C | Light rain OK (up to 3mm) | Max AQI: 150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⛳ Golf</a:t>
            </a:r>
            <a:r>
              <a:rPr b="0">
                <a:solidFill>
                  <a:srgbClr val="475569"/>
                </a:solidFill>
              </a:rPr>
              <a:t>  Ideal: 18–30°C | Wind &lt;30 km/h | Daylight essential | Max AQI: 100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🥾 Hiking / Nature Walks</a:t>
            </a:r>
            <a:r>
              <a:rPr b="0">
                <a:solidFill>
                  <a:srgbClr val="475569"/>
                </a:solidFill>
              </a:rPr>
              <a:t>  Ideal: 12–25°C | Wind &lt;45 km/h | Rain &lt;2mm | Elevation safe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🧺 Picnic / Park Visits</a:t>
            </a:r>
            <a:r>
              <a:rPr b="0">
                <a:solidFill>
                  <a:srgbClr val="475569"/>
                </a:solidFill>
              </a:rPr>
              <a:t>  Ideal: 20–30°C | Low wind &lt;25 km/h | 0mm Rain | Green canopy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🎪 Outdoor Events / Parties</a:t>
            </a:r>
            <a:r>
              <a:rPr b="0">
                <a:solidFill>
                  <a:srgbClr val="475569"/>
                </a:solidFill>
              </a:rPr>
              <a:t>  Ideal: 20–32°C | Night floodlights OK | Low humidity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📷 Sunset / Photography</a:t>
            </a:r>
            <a:r>
              <a:rPr b="0">
                <a:solidFill>
                  <a:srgbClr val="475569"/>
                </a:solidFill>
              </a:rPr>
              <a:t>  Ideal: 10–30°C | Clear skies (AQI &lt;75) | Golden Hour +10 bonus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4967935" cy="4846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64592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Personal Health Profiling Rules</a:t>
            </a:r>
          </a:p>
          <a:p>
            <a:pPr>
              <a:spcBef>
                <a:spcPts val="800"/>
              </a:spcBef>
              <a:defRPr sz="1200" b="1">
                <a:solidFill>
                  <a:srgbClr val="DC2626"/>
                </a:solidFill>
              </a:defRPr>
            </a:pPr>
            <a:r>
              <a:t>🫁 Mild Asthma / Respiratory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• Hard AQI threshold capped at 75 (Moderate air penalized)</a:t>
            </a:r>
            <a:br/>
            <a:r>
              <a:t>• If AQI &gt;75: -25 pts + immediate risk alert</a:t>
            </a:r>
            <a:br/>
            <a:r>
              <a:t>• Automatic preparation tip: 'Carry fast-acting inhaler'</a:t>
            </a:r>
            <a:br/>
            <a:r>
              <a:t>• Recommends morning slots before ozone peaks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t>👴 Elderly Parents / Seniors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• Strict heat-index ceiling: temps &gt;30°C heavily penalized</a:t>
            </a:r>
            <a:br/>
            <a:r>
              <a:t>• AQI capped at 100; surfaces gentle shaded park walking tracks</a:t>
            </a:r>
            <a:br/>
            <a:r>
              <a:t>• Travel duration penalized if &gt;30 minutes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t>👶 Young Children / Family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• UV index ceiling &gt;7 requires sunscreen &amp; shade warnings</a:t>
            </a:r>
            <a:br/>
            <a:r>
              <a:t>• Rain tolerance strictly 0mm for kids' cricket / picnics</a:t>
            </a:r>
            <a:br/>
            <a:r>
              <a:t>• Proximity to traffic expressways heavily penalized for safety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t>🤰 Pregnancy &amp; Sensitive Groups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• AQI &gt;75 penalized by 20 pts (placental exposure protection)</a:t>
            </a:r>
            <a:br/>
            <a:r>
              <a:t>• Heat stress avoidance: warns against mid-afternoon hours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SLM ARCHITECTURE &amp; GROUNDING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Small Language Model: Qwen2.5-3B-Instruct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Model Specification &amp; Governance</a:t>
            </a:r>
          </a:p>
          <a:p>
            <a:pPr>
              <a:spcBef>
                <a:spcPts val="700"/>
              </a:spcBef>
              <a:defRPr sz="1100" b="1">
                <a:solidFill>
                  <a:srgbClr val="2563EB"/>
                </a:solidFill>
              </a:defRPr>
            </a:pPr>
            <a:r>
              <a:t>Selected Model: </a:t>
            </a:r>
            <a:r>
              <a:rPr b="0">
                <a:solidFill>
                  <a:srgbClr val="0F172A"/>
                </a:solidFill>
              </a:rPr>
              <a:t>Qwen/Qwen2.5-3B-Instruct</a:t>
            </a:r>
          </a:p>
          <a:p>
            <a:pPr>
              <a:spcBef>
                <a:spcPts val="700"/>
              </a:spcBef>
              <a:defRPr sz="1100" b="1">
                <a:solidFill>
                  <a:srgbClr val="2563EB"/>
                </a:solidFill>
              </a:defRPr>
            </a:pPr>
            <a:r>
              <a:t>Parameter Count: </a:t>
            </a:r>
            <a:r>
              <a:rPr b="0">
                <a:solidFill>
                  <a:srgbClr val="0F172A"/>
                </a:solidFill>
              </a:rPr>
              <a:t>2.77 Billion parameters (Strictly compliant with ≤ 3B rule)</a:t>
            </a:r>
          </a:p>
          <a:p>
            <a:pPr>
              <a:spcBef>
                <a:spcPts val="700"/>
              </a:spcBef>
              <a:defRPr sz="1100" b="1">
                <a:solidFill>
                  <a:srgbClr val="2563EB"/>
                </a:solidFill>
              </a:defRPr>
            </a:pPr>
            <a:r>
              <a:t>License: </a:t>
            </a:r>
            <a:r>
              <a:rPr b="0">
                <a:solidFill>
                  <a:srgbClr val="0F172A"/>
                </a:solidFill>
              </a:rPr>
              <a:t>Apache 2.0 (Permissive open weights)</a:t>
            </a:r>
          </a:p>
          <a:p>
            <a:pPr>
              <a:spcBef>
                <a:spcPts val="700"/>
              </a:spcBef>
              <a:defRPr sz="1100" b="1">
                <a:solidFill>
                  <a:srgbClr val="2563EB"/>
                </a:solidFill>
              </a:defRPr>
            </a:pPr>
            <a:r>
              <a:t>Precision &amp; Quantization: </a:t>
            </a:r>
            <a:r>
              <a:rPr b="0">
                <a:solidFill>
                  <a:srgbClr val="0F172A"/>
                </a:solidFill>
              </a:rPr>
              <a:t>4-bit NF4 via bitsandbytes (runs in &lt;2.8GB VRAM)</a:t>
            </a:r>
          </a:p>
          <a:p>
            <a:pPr>
              <a:spcBef>
                <a:spcPts val="700"/>
              </a:spcBef>
              <a:defRPr sz="1100" b="1">
                <a:solidFill>
                  <a:srgbClr val="2563EB"/>
                </a:solidFill>
              </a:defRPr>
            </a:pPr>
            <a:r>
              <a:t>Hugging Face Hub Repo: </a:t>
            </a:r>
            <a:r>
              <a:rPr b="0">
                <a:solidFill>
                  <a:srgbClr val="0F172A"/>
                </a:solidFill>
              </a:rPr>
              <a:t>Public model card, inference configuration &amp; system prompt</a:t>
            </a:r>
          </a:p>
          <a:p>
            <a:pPr>
              <a:spcBef>
                <a:spcPts val="700"/>
              </a:spcBef>
              <a:defRPr sz="1100" b="1">
                <a:solidFill>
                  <a:srgbClr val="2563EB"/>
                </a:solidFill>
              </a:defRPr>
            </a:pPr>
            <a:r>
              <a:t>Loading Standard: </a:t>
            </a:r>
            <a:r>
              <a:rPr b="0">
                <a:solidFill>
                  <a:srgbClr val="0F172A"/>
                </a:solidFill>
              </a:rPr>
              <a:t>Native AutoModelForCausalLM.from_pretrained(...)</a:t>
            </a:r>
          </a:p>
          <a:p>
            <a:pPr>
              <a:spcBef>
                <a:spcPts val="700"/>
              </a:spcBef>
              <a:defRPr sz="1100" b="1">
                <a:solidFill>
                  <a:srgbClr val="2563EB"/>
                </a:solidFill>
              </a:defRPr>
            </a:pPr>
            <a:r>
              <a:t>Device Support: </a:t>
            </a:r>
            <a:r>
              <a:rPr b="0">
                <a:solidFill>
                  <a:srgbClr val="0F172A"/>
                </a:solidFill>
              </a:rPr>
              <a:t>CUDA (Linux/Colab), Apple Silicon MPS, or CPU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33695" cy="4846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Zero-Hallucination Grounding Protocol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1. Strict Separation of Concerns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The 3B model is NOT used to recall weather or geography. It receives a pre-compiled JSON context containing exact verified metrics.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2. Structured Prompt Injection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Context includes user health profile, top 5 ranked venues with scores, weather stats, AQI stations, and explicit 'avoid slots'.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3. System Role Constraints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Prompt mandates: 'Cite every number from the provided context. Never invent weather, places, or forecast values.'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4. Robust Fallback Generator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If run on CPU environments where PyTorch GPU loading is skipped (USE_SLM=false), a deterministic template generator outputs identical grounded advice.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EVALUATION &amp; TEST CASE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Worked Example: Verification on Official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0584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EVALUATION QUERY 3 (from Hackathon Problem Statement):</a:t>
            </a:r>
          </a:p>
          <a:p>
            <a:pPr>
              <a:spcBef>
                <a:spcPts val="300"/>
              </a:spcBef>
              <a:defRPr sz="1500" b="1">
                <a:solidFill>
                  <a:srgbClr val="0F172A"/>
                </a:solidFill>
              </a:defRPr>
            </a:pPr>
            <a:r>
              <a:t>"I have mild asthma, where's good for a morning walk near Powai in the next two days?"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2514600" cy="3566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761488"/>
            <a:ext cx="2295144" cy="3346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Intent Parsing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Activity: Walking</a:t>
            </a:r>
            <a:br/>
            <a:r>
              <a:t>• Location: Powai, Mumbai</a:t>
            </a:r>
            <a:br/>
            <a:r>
              <a:t>• Radius: 10 km default</a:t>
            </a:r>
            <a:br/>
            <a:r>
              <a:t>• Time: Morning (06:00–10:00)</a:t>
            </a:r>
            <a:br/>
            <a:r>
              <a:t>• Health: ['asthma']</a:t>
            </a:r>
            <a:br/>
            <a:r>
              <a:t>• Window: Next 48 hours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651760"/>
            <a:ext cx="2514600" cy="3566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761488"/>
            <a:ext cx="2295144" cy="3346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2. Spatial Discovery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Geocoded: 19.118°N, 72.907°E</a:t>
            </a:r>
            <a:br/>
            <a:r>
              <a:t>• OpenStreetMap POIs found:</a:t>
            </a:r>
            <a:br/>
            <a:r>
              <a:t>  - H1 Garden (2.16 km)</a:t>
            </a:r>
            <a:br/>
            <a:r>
              <a:t>  - Bharatvan (2.31 km)</a:t>
            </a:r>
            <a:br/>
            <a:r>
              <a:t>  - Mahindra Garden (3.47 km)</a:t>
            </a:r>
            <a:br/>
            <a:r>
              <a:t>  - Pantnagar Garden (3.94 km)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2514600" cy="3566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761488"/>
            <a:ext cx="2295144" cy="3346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3. Live Meteorology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Temp: 28.4°C (Warm morning)</a:t>
            </a:r>
            <a:br/>
            <a:r>
              <a:t>• Real-Time AQI: 55 (Moderate)</a:t>
            </a:r>
            <a:br/>
            <a:r>
              <a:t>• Wind: 5.4 km/h from NE (56°)</a:t>
            </a:r>
            <a:br/>
            <a:r>
              <a:t>• Rain Probability: 0%</a:t>
            </a:r>
            <a:br/>
            <a:r>
              <a:t>• Sunrise: 06:29 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651760"/>
            <a:ext cx="2514600" cy="3566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2761488"/>
            <a:ext cx="2295144" cy="3346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4. Scored Outcome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Top Slot: 8:00 AM at H1 Garden</a:t>
            </a:r>
            <a:br/>
            <a:r>
              <a:t>• Composite Score: 95.3/100 (✅)</a:t>
            </a:r>
            <a:br/>
            <a:r>
              <a:t>• Asthma Alert: 'Carry inhaler'</a:t>
            </a:r>
            <a:br/>
            <a:r>
              <a:t>• Hydration Alert: 'Stay hydrated'</a:t>
            </a:r>
            <a:br/>
            <a:r>
              <a:t>• Avoid: Midday 12:00–15:00 (heat)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WEB GUI &amp; DELIVERABLES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Interactive User Interface &amp; Hackathon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Interactive Geospatial Web GUI</a:t>
            </a:r>
          </a:p>
          <a:p>
            <a:pPr>
              <a:spcBef>
                <a:spcPts val="600"/>
              </a:spcBef>
              <a:defRPr sz="1100" b="1">
                <a:solidFill>
                  <a:srgbClr val="2563EB"/>
                </a:solidFill>
              </a:defRPr>
            </a:pPr>
            <a:r>
              <a:t>• Leaflet.js Geospatial Map: </a:t>
            </a:r>
            <a:r>
              <a:rPr b="0">
                <a:solidFill>
                  <a:srgbClr val="0F172A"/>
                </a:solidFill>
              </a:rPr>
              <a:t>Real-time interactive OSM tiles with pulsing origin marker, dashed search radius circle, and venue route polylines.</a:t>
            </a:r>
          </a:p>
          <a:p>
            <a:pPr>
              <a:spcBef>
                <a:spcPts val="600"/>
              </a:spcBef>
              <a:defRPr sz="1100" b="1">
                <a:solidFill>
                  <a:srgbClr val="2563EB"/>
                </a:solidFill>
              </a:defRPr>
            </a:pPr>
            <a:r>
              <a:t>• Score-Colored Dynamic Markers: </a:t>
            </a:r>
            <a:r>
              <a:rPr b="0">
                <a:solidFill>
                  <a:srgbClr val="0F172A"/>
                </a:solidFill>
              </a:rPr>
              <a:t>Visual color coding: Green (≥80 Prime), Blue (65–79 Good), Orange (50–64 Caution), Red (&lt;50 Avoid). Clickable rich popups.</a:t>
            </a:r>
          </a:p>
          <a:p>
            <a:pPr>
              <a:spcBef>
                <a:spcPts val="600"/>
              </a:spcBef>
              <a:defRPr sz="1100" b="1">
                <a:solidFill>
                  <a:srgbClr val="2563EB"/>
                </a:solidFill>
              </a:defRPr>
            </a:pPr>
            <a:r>
              <a:t>• 4-Card Real-Time Status Bar: </a:t>
            </a:r>
            <a:r>
              <a:rPr b="0">
                <a:solidFill>
                  <a:srgbClr val="0F172A"/>
                </a:solidFill>
              </a:rPr>
              <a:t>Visual KPI meters for Temperature, AQI with color indicator, live rotating Wind Compass needle, and Sunrise/Sunset times.</a:t>
            </a:r>
          </a:p>
          <a:p>
            <a:pPr>
              <a:spcBef>
                <a:spcPts val="600"/>
              </a:spcBef>
              <a:defRPr sz="1100" b="1">
                <a:solidFill>
                  <a:srgbClr val="2563EB"/>
                </a:solidFill>
              </a:defRPr>
            </a:pPr>
            <a:r>
              <a:t>• Ranked Venue Leaderboard: </a:t>
            </a:r>
            <a:r>
              <a:rPr b="0">
                <a:solidFill>
                  <a:srgbClr val="0F172A"/>
                </a:solidFill>
              </a:rPr>
              <a:t>Cards display distance, travel time, composite score progress bar, and health/downwind warning badges.</a:t>
            </a:r>
          </a:p>
          <a:p>
            <a:pPr>
              <a:spcBef>
                <a:spcPts val="600"/>
              </a:spcBef>
              <a:defRPr sz="1100" b="1">
                <a:solidFill>
                  <a:srgbClr val="2563EB"/>
                </a:solidFill>
              </a:defRPr>
            </a:pPr>
            <a:r>
              <a:t>• One-Click Evaluation Pills: </a:t>
            </a:r>
            <a:r>
              <a:rPr b="0">
                <a:solidFill>
                  <a:srgbClr val="0F172A"/>
                </a:solidFill>
              </a:rPr>
              <a:t>Quick buttons for all official problem statement queries + instant health toggles for asthma, seniors, and kids.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33695" cy="4846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All 5 Hackathon Deliverables Completed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</a:defRPr>
            </a:pPr>
            <a:r>
              <a:t>✓ 1. Live HTTP API Endpoint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FastAPI server running with /ask, /health, /docs. Dockerfile, Procfile &amp; render.yaml ready for cloud deployment.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</a:defRPr>
            </a:pPr>
            <a:r>
              <a:t>✓ 2. Hugging Face Hub Model Repo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Dedicated repo with MODEL_CARD.md, open Apache 2.0 license, system configuration, and scripts/upload_to_hf.py publisher.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</a:defRPr>
            </a:pPr>
            <a:r>
              <a:t>✓ 3. Clean Source Code Repository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Full Git repository with 28 source files, modular package structure, and 100% passing test suite.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</a:defRPr>
            </a:pPr>
            <a:r>
              <a:t>✓ 4. Short Technical README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Complete architecture documentation, data sources attribution, local &amp; docker run instructions, and API schemas.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</a:defRPr>
            </a:pPr>
            <a:r>
              <a:t>✓ 5. Executive Presentation Deck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Comprehensive 10-slide PowerPoint presentation covering problem, architecture, scoring physics, worked examples, and limitations.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GOVERNANCE, ETHICS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Honest Limitations &amp; Future Development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Honest Technical Limitations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7-Day Meteorological Horizon: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Open-Meteo provides accurate hourly forecasts up to 7 days ahead. Long-range queries (e.g. 'next month') cannot be reliably grounded.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Rural Sensor Sparsity: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While WAQI and OpenAQ cover major Indian tier-1 and tier-2 cities well, rural coordinates rely on satellite aerosol interpolation proxies.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Driving Profile as Default: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OSRM routing demo instance uses vehicular driving. Cycling and walking paths in dense Indian alleys are estimated via velocity heuristics.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Overpass API Public Throttling: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Public Overpass mirrors impose concurrent request limits. Our multi-tier fallback to Nominatim ensures high availability but with slightly less tag granularity.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33695" cy="4846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Future Technical Roadmap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1. Vernacular Multilingual SLM (LoRA):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Fine-tune Qwen2.5-3B using LoRA on Indic outdoor prompts to support natural Hindi, Marathi, and Tamil voice queries.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2. Real-Time Live Traffic Feeds: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Integrate live Google Traffic / TomTom APIs for dynamic live-updating rush-hour bottlenecks rather than static peak-hour curves.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3. Satellite Remote Sensing (NDVI Index):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Extract live Sentinel-2 / Landsat NDVI vegetative index to score actual green canopy density and shaded pathways.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4. Proactive Push Alerts (WhatsApp/Telegram):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Allow users to subscribe to morning routine alerts: 'Today, the best window for your run in Powai is 7:15 AM before the expressway wind shifts'.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